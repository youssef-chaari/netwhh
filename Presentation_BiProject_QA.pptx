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772400" cy="4572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DCFF"/>
                </a:solidFill>
              </a:rPr>
              <a:t>BI-PROJECT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1EBFF"/>
                </a:solidFill>
              </a:rPr>
              <a:t>QUALITY ASSURANCE &amp;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94560"/>
            <a:ext cx="6400800" cy="36576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6482B4"/>
                </a:solidFill>
              </a:rPr>
              <a:t>Stratégie de test complète — Pyramide, Automatisation, Sécurité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017520"/>
            <a:ext cx="4572000" cy="731520"/>
          </a:xfrm>
          <a:prstGeom prst="rect">
            <a:avLst/>
          </a:prstGeom>
          <a:solidFill>
            <a:srgbClr val="00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1EBFF"/>
                </a:solidFill>
              </a:rPr>
              <a:t>Youssef Chaari  &amp;  Mohamed Aziz Zouari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114800"/>
            <a:ext cx="1828800" cy="292608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148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CFF"/>
                </a:solidFill>
              </a:rPr>
              <a:t>Selenium + POM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4114800"/>
            <a:ext cx="1828800" cy="292608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41148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CFF"/>
                </a:solidFill>
              </a:rPr>
              <a:t>.NET xUnit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114800"/>
            <a:ext cx="1828800" cy="292608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2352" y="41148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CFF"/>
                </a:solidFill>
              </a:rPr>
              <a:t>Robot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114800"/>
            <a:ext cx="1828800" cy="292608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41148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CFF"/>
                </a:solidFill>
              </a:rPr>
              <a:t>ISTQB Standards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9144000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82B4"/>
                </a:solidFill>
              </a:rPr>
              <a:t>Mars 2026  —  Projet de Fin d'Étude 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9144000" cy="4572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CFF"/>
                </a:solidFill>
              </a:rPr>
              <a:t>01 — OBJECTIFS &amp; PÉRIMÈTRE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82B4"/>
                </a:solidFill>
              </a:rPr>
              <a:t>BiProject : Plateforme E-Commerce &amp; Business Intelligence / .NET + Angular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9144000" cy="2286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82B4"/>
                </a:solidFill>
              </a:rPr>
              <a:t>BiProject QA  •  Youssef Chaari &amp; Mohamed Aziz Zouari  •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CFF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1EBFF"/>
                </a:solidFill>
              </a:rPr>
              <a:t>Garantir la stabilité de l'ensemble du flux d'achat (E2E)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CFF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1EBFF"/>
                </a:solidFill>
              </a:rPr>
              <a:t>Identifier et documenter les failles de sécurité (IDOR, Trust Boundary)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CFF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346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1EBFF"/>
                </a:solidFill>
              </a:rPr>
              <a:t>Automatiser la régression via la pyramide de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37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CFF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1EBFF"/>
                </a:solidFill>
              </a:rPr>
              <a:t>Produire un dossier de test conforme aux normes académiques ISTQB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8229600" cy="18288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1920240" cy="82296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CFF"/>
                </a:solidFill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82B4"/>
                </a:solidFill>
              </a:rPr>
              <a:t>Cas de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4754880"/>
            <a:ext cx="1920240" cy="82296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4800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C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257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82B4"/>
                </a:solidFill>
              </a:rPr>
              <a:t>Niveaux de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754880"/>
            <a:ext cx="1920240" cy="82296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800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CFF"/>
                </a:solidFill>
              </a:rPr>
              <a:t>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257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82B4"/>
                </a:solidFill>
              </a:rPr>
              <a:t>Taux de réussite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4754880"/>
            <a:ext cx="1920240" cy="82296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800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CFF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257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82B4"/>
                </a:solidFill>
              </a:rPr>
              <a:t>Outils E2E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9144000" cy="4572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CFF"/>
                </a:solidFill>
              </a:rPr>
              <a:t>02 — PYRAMIDE DES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82B4"/>
                </a:solidFill>
              </a:rPr>
              <a:t>Stratégie multi-niveaux pour optimiser coût et vitesse de détection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9144000" cy="2286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82B4"/>
                </a:solidFill>
              </a:rPr>
              <a:t>BiProject QA  •  Youssef Chaari &amp; Mohamed Aziz Zouari  •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54864" cy="41148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43CFF"/>
                </a:solidFill>
              </a:rPr>
              <a:t>ANALYSE STATIQUE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37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B4"/>
                </a:solidFill>
              </a:rPr>
              <a:t>Revues, inspections de code et anomalies structurelles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48840"/>
            <a:ext cx="8412480" cy="16459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560320"/>
            <a:ext cx="54864" cy="41148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CFF"/>
                </a:solidFill>
              </a:rPr>
              <a:t>TESTS D'INTÉGRATION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60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B4"/>
                </a:solidFill>
              </a:rPr>
              <a:t>Validation des endpoints API, contrôle d'accès, sécurité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71800"/>
            <a:ext cx="8412480" cy="16459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383280"/>
            <a:ext cx="54864" cy="411480"/>
          </a:xfrm>
          <a:prstGeom prst="rect">
            <a:avLst/>
          </a:prstGeom>
          <a:solidFill>
            <a:srgbClr val="00F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B9"/>
                </a:solidFill>
              </a:rPr>
              <a:t>TESTS UNITAIRES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383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B4"/>
                </a:solidFill>
              </a:rPr>
              <a:t>Logique métier AuthService : JWT, mot de passe, utilisateur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8412480" cy="16459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54864" cy="411480"/>
          </a:xfrm>
          <a:prstGeom prst="rect">
            <a:avLst/>
          </a:prstGeom>
          <a:solidFill>
            <a:srgbClr val="FF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064"/>
                </a:solidFill>
              </a:rPr>
              <a:t>TESTS SYSTÈME E2E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206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B4"/>
                </a:solidFill>
              </a:rPr>
              <a:t>Parcours complets : Login, Register, Catalogue — via Selenium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17720"/>
            <a:ext cx="8412480" cy="16459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9144000" cy="4572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CFF"/>
                </a:solidFill>
              </a:rPr>
              <a:t>03 — ANALYSE STATIQUE &amp;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82B4"/>
                </a:solidFill>
              </a:rPr>
              <a:t>3 anomalies identifiées avant tout déploiement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9144000" cy="2286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82B4"/>
                </a:solidFill>
              </a:rPr>
              <a:t>BiProject QA  •  Youssef Chaari &amp; Mohamed Aziz Zouari  •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8412480" cy="91440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73152" cy="914400"/>
          </a:xfrm>
          <a:prstGeom prst="rect">
            <a:avLst/>
          </a:prstGeom>
          <a:solidFill>
            <a:srgbClr val="FF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8745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064"/>
                </a:solidFill>
              </a:rPr>
              <a:t>🔴  CRITIQUE – 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7627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82B4"/>
                </a:solidFill>
              </a:rPr>
              <a:t>Accès non autorisé aux commandes d'autres utilisateurs
→ Confirmé dynamiquement par CT-BUG-01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8412480" cy="91440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73152" cy="91440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926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400"/>
                </a:solidFill>
              </a:rPr>
              <a:t>🟡  MOYEN – Trust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2783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82B4"/>
                </a:solidFill>
              </a:rPr>
              <a:t>Absence de validation stricte aux frontières de confiance
→ Risque d'injection et de bypass d'autorisation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73152" cy="9144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977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CFF"/>
                </a:solidFill>
              </a:rPr>
              <a:t>🔵  FAIBLE –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793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82B4"/>
                </a:solidFill>
              </a:rPr>
              <a:t>Fuite potentielle d'informations sensibles dans les logs
→ Recommandation de masquage des tokens JWT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9144000" cy="4572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CFF"/>
                </a:solidFill>
              </a:rPr>
              <a:t>04 — INTÉGRATION BACKEND &amp; BUG 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82B4"/>
                </a:solidFill>
              </a:rPr>
              <a:t>Validation dynamique des endpoints .NET avec WebApplicationFactory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9144000" cy="2286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82B4"/>
                </a:solidFill>
              </a:rPr>
              <a:t>BiProject QA  •  Youssef Chaari &amp; Mohamed Aziz Zouari  •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CFF"/>
                </a:solidFill>
              </a:rPr>
              <a:t>TESTS COUVERTS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B9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CT-07/08/09 — Sécurité sans token (401)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B9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CT-14 — Restriction Admin (403 Forbidden)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B9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0040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CT-15 — Création produit Admin (201)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B9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CT-16 — Historique commandes User (200)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B9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CT-17 — Passage de commande (201)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09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B9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0916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CT-18 — Isolation anti-IDOR (403/404)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B9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CT-19 — Analytics BI restreint (403)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737360"/>
            <a:ext cx="4023360" cy="4114800"/>
          </a:xfrm>
          <a:prstGeom prst="rect">
            <a:avLst/>
          </a:prstGeom>
          <a:solidFill>
            <a:srgbClr val="28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1737360"/>
            <a:ext cx="4023360" cy="45720"/>
          </a:xfrm>
          <a:prstGeom prst="rect">
            <a:avLst/>
          </a:prstGeom>
          <a:solidFill>
            <a:srgbClr val="FF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064"/>
                </a:solidFill>
              </a:rPr>
              <a:t>CT-BUG-01 — IDOR Exploit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→ Scénario : User A accède aux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2578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   commandes de User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29169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B4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2552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→ Attendu : 403 Forbidden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593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5064"/>
                </a:solidFill>
              </a:rPr>
              <a:t>→ Obtenu  : 200 OK ← FAIL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B4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270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→ Valeur : Preuve formelle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6085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   de la vulnérabilité IDOR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9469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   en environnement réel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9144000" cy="4572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CFF"/>
                </a:solidFill>
              </a:rPr>
              <a:t>05 — SELENIUM — SUITE PRINCIPALE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82B4"/>
                </a:solidFill>
              </a:rPr>
              <a:t>Architecture Page Object Model avancée — 6 scénarios E2E validés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9144000" cy="2286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82B4"/>
                </a:solidFill>
              </a:rPr>
              <a:t>BiProject QA  •  Youssef Chaari &amp; Mohamed Aziz Zouari  •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CFF"/>
                </a:solidFill>
              </a:rPr>
              <a:t>ARCHITECTURE POM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1EBFF"/>
                </a:solidFill>
              </a:rPr>
              <a:t>BasePage       → Abstraction &amp; Config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334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1EBFF"/>
                </a:solidFill>
              </a:rPr>
              <a:t>LoginPage      → Sélecteurs &amp; Actions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72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1EBFF"/>
                </a:solidFill>
              </a:rPr>
              <a:t>RegisterPage   → Sélecteurs &amp; Actions 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1129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1EBFF"/>
                </a:solidFill>
              </a:rPr>
              <a:t>ProductsPage   → Vérification du catalogue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51960"/>
            <a:ext cx="8229600" cy="18288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CFF"/>
                </a:solidFill>
              </a:rPr>
              <a:t>AMÉLIORATIONS DE ROBUSTESSE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B9"/>
                </a:solidFill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Suppression complète des time.sleep()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B9"/>
                </a:solidFill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12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Explicit Waits (WebDriverWait) systématiques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15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B9"/>
                </a:solidFill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1EBFF"/>
                </a:solidFill>
              </a:rPr>
              <a:t>Screenshots automatiques sur chaque échec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737360"/>
            <a:ext cx="4023360" cy="4114800"/>
          </a:xfrm>
          <a:prstGeom prst="rect">
            <a:avLst/>
          </a:prstGeom>
          <a:solidFill>
            <a:srgbClr val="00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CFF"/>
                </a:solidFill>
              </a:rPr>
              <a:t>RÉSULTATS E2E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1945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FF"/>
                </a:solidFill>
              </a:rPr>
              <a:t>CT-01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21945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Login valide → /products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194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B9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63347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FF"/>
                </a:solidFill>
              </a:rPr>
              <a:t>CT-02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26334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Login erroné → bloqué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6334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B9"/>
                </a:solidFill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07238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FF"/>
                </a:solidFill>
              </a:rPr>
              <a:t>CT-03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307238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AuthGuard → /login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0723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B9"/>
                </a:solidFill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51129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FF"/>
                </a:solidFill>
              </a:rPr>
              <a:t>CT-10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35112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Inscription réussie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5112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B9"/>
                </a:solidFill>
              </a:rPr>
              <a:t>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95020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FF"/>
                </a:solidFill>
              </a:rPr>
              <a:t>CT-11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3950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Doublon détecté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95020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B9"/>
                </a:solidFill>
              </a:rP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43891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FF"/>
                </a:solidFill>
              </a:rPr>
              <a:t>CT-12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43891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Catalogue chargé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3891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B9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9144000" cy="4572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CFF"/>
                </a:solidFill>
              </a:rPr>
              <a:t>06 — BONUS : ROBOT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82B4"/>
                </a:solidFill>
              </a:rPr>
              <a:t>Approche Keyword-Driven — Lisibilité maximale pour tous les profils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9144000" cy="2286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82B4"/>
                </a:solidFill>
              </a:rPr>
              <a:t>BiProject QA  •  Youssef Chaari &amp; Mohamed Aziz Zouari  •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CFF"/>
                </a:solidFill>
              </a:rPr>
              <a:t>POURQUOI ROBOT FRAMEWORK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43CFF"/>
                </a:solidFill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1EBFF"/>
                </a:solidFill>
              </a:rPr>
              <a:t>Paradigme complémentaire à Selenium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43CFF"/>
                </a:solidFill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1EBFF"/>
                </a:solidFill>
              </a:rPr>
              <a:t>Lisible par profils non techniques (Métier)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43CFF"/>
                </a:solidFill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0040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1EBFF"/>
                </a:solidFill>
              </a:rPr>
              <a:t>Démontre une polyvalence technologique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43CFF"/>
                </a:solidFill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1EBFF"/>
                </a:solidFill>
              </a:rPr>
              <a:t>Standard industriel (BDD &amp; ATDD)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737360"/>
            <a:ext cx="4023360" cy="4114800"/>
          </a:xfrm>
          <a:prstGeom prst="rect">
            <a:avLst/>
          </a:prstGeom>
          <a:solidFill>
            <a:srgbClr val="05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737360"/>
            <a:ext cx="4023360" cy="4572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3CFF"/>
                </a:solidFill>
              </a:rPr>
              <a:t>login_tests.robot — Extrait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1945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CFF"/>
                </a:solidFill>
              </a:rPr>
              <a:t>*** Test Cases ***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4963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3CFF"/>
                </a:solidFill>
              </a:rPr>
              <a:t>Connexion Réussie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  Ouvrir Le Navigateur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09981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  Saisir Les Identifiants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401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    ...  test_user  TestPwd123!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7033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  Soumettre Le Formulaire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005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  Vérifier La Redirection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30682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3CFF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6085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3CFF"/>
                </a:solidFill>
              </a:rPr>
              <a:t>Consultation Du Catalogue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9103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  Ouvrir Le Navigateur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2120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  [Login sequence...]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55138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  Vérifier La Grille Produits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9144000" cy="4572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CFF"/>
                </a:solidFill>
              </a:rPr>
              <a:t>07 — BILAN &amp; INDICATEURS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82B4"/>
                </a:solidFill>
              </a:rPr>
              <a:t>Suite de tests prête pour la mise en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9144000" cy="2286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82B4"/>
                </a:solidFill>
              </a:rPr>
              <a:t>BiProject QA  •  Youssef Chaari &amp; Mohamed Aziz Zouari  •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828800" cy="1371600"/>
          </a:xfrm>
          <a:prstGeom prst="rect">
            <a:avLst/>
          </a:prstGeom>
          <a:solidFill>
            <a:srgbClr val="00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828800" cy="4572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CFF"/>
                </a:solidFill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82B4"/>
                </a:solidFill>
              </a:rPr>
              <a:t>Cas de tests
totaux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1828800"/>
            <a:ext cx="1828800" cy="1371600"/>
          </a:xfrm>
          <a:prstGeom prst="rect">
            <a:avLst/>
          </a:prstGeom>
          <a:solidFill>
            <a:srgbClr val="00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87168" y="1828800"/>
            <a:ext cx="1828800" cy="45720"/>
          </a:xfrm>
          <a:prstGeom prst="rect">
            <a:avLst/>
          </a:prstGeom>
          <a:solidFill>
            <a:srgbClr val="00F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19202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FFB9"/>
                </a:solidFill>
              </a:rPr>
              <a:t>19 /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2606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82B4"/>
                </a:solidFill>
              </a:rPr>
              <a:t>Pass / Fail
(1=IDOR Bug)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7136" y="1828800"/>
            <a:ext cx="1828800" cy="1371600"/>
          </a:xfrm>
          <a:prstGeom prst="rect">
            <a:avLst/>
          </a:prstGeom>
          <a:solidFill>
            <a:srgbClr val="00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7136" y="1828800"/>
            <a:ext cx="1828800" cy="4572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19202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43CFF"/>
                </a:solidFill>
              </a:rP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606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82B4"/>
                </a:solidFill>
              </a:rPr>
              <a:t>Taux de
réussite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47104" y="1828800"/>
            <a:ext cx="1828800" cy="1371600"/>
          </a:xfrm>
          <a:prstGeom prst="rect">
            <a:avLst/>
          </a:prstGeom>
          <a:solidFill>
            <a:srgbClr val="00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1828800"/>
            <a:ext cx="1828800" cy="4572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19202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1EBFF"/>
                </a:solidFill>
              </a:rPr>
              <a:t>3+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2606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82B4"/>
                </a:solidFill>
              </a:rPr>
              <a:t>Niveaux de
tests couverts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74720"/>
            <a:ext cx="8229600" cy="18288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CFF"/>
                </a:solidFill>
              </a:rPr>
              <a:t>SYNTHÈSE PAR COUCHE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77639"/>
            <a:ext cx="8412480" cy="384048"/>
          </a:xfrm>
          <a:prstGeom prst="rect">
            <a:avLst/>
          </a:prstGeom>
          <a:solidFill>
            <a:srgbClr val="08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977639"/>
            <a:ext cx="45720" cy="384048"/>
          </a:xfrm>
          <a:prstGeom prst="rect">
            <a:avLst/>
          </a:prstGeom>
          <a:solidFill>
            <a:srgbClr val="00F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14215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EBFF"/>
                </a:solidFill>
              </a:rPr>
              <a:t>Tests Unitaires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014215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xUnit .NET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014215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1EBFF"/>
                </a:solidFill>
              </a:rPr>
              <a:t>3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014215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B9"/>
                </a:solidFill>
              </a:rPr>
              <a:t>3 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014215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5064"/>
                </a:solidFill>
              </a:rPr>
              <a:t>0 Fail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453127"/>
            <a:ext cx="8412480" cy="384048"/>
          </a:xfrm>
          <a:prstGeom prst="rect">
            <a:avLst/>
          </a:prstGeom>
          <a:solidFill>
            <a:srgbClr val="08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453127"/>
            <a:ext cx="45720" cy="384048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489703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EBFF"/>
                </a:solidFill>
              </a:rPr>
              <a:t>Tests Intégration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4489703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WebApplicationFactory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4489703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1EBFF"/>
                </a:solidFill>
              </a:rPr>
              <a:t>11 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4489703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B9"/>
                </a:solidFill>
              </a:rPr>
              <a:t>10 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489703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5064"/>
                </a:solidFill>
              </a:rPr>
              <a:t>1 Bug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928615"/>
            <a:ext cx="8412480" cy="384048"/>
          </a:xfrm>
          <a:prstGeom prst="rect">
            <a:avLst/>
          </a:prstGeom>
          <a:solidFill>
            <a:srgbClr val="08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928615"/>
            <a:ext cx="45720" cy="384048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965191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EBFF"/>
                </a:solidFill>
              </a:rPr>
              <a:t>Tests Système E2E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4965191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Selenium + POM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4965191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1EBFF"/>
                </a:solidFill>
              </a:rPr>
              <a:t>6 tests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4965191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B9"/>
                </a:solidFill>
              </a:rPr>
              <a:t>6 Pass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4965191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5064"/>
                </a:solidFill>
              </a:rPr>
              <a:t>0 Fail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404103"/>
            <a:ext cx="8412480" cy="384048"/>
          </a:xfrm>
          <a:prstGeom prst="rect">
            <a:avLst/>
          </a:prstGeom>
          <a:solidFill>
            <a:srgbClr val="08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5404103"/>
            <a:ext cx="45720" cy="384048"/>
          </a:xfrm>
          <a:prstGeom prst="rect">
            <a:avLst/>
          </a:prstGeom>
          <a:solidFill>
            <a:srgbClr val="64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440679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EBFF"/>
                </a:solidFill>
              </a:rPr>
              <a:t>Statique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51760" y="5440679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82B4"/>
                </a:solidFill>
              </a:rPr>
              <a:t>Inspections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9160" y="5440679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1EBFF"/>
                </a:solidFill>
              </a:rPr>
              <a:t>3 revues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5440679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B9"/>
                </a:solidFill>
              </a:rPr>
              <a:t>3 Det.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5440679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82B4"/>
                </a:solidFill>
              </a:rPr>
              <a:t>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DCFF"/>
                </a:solidFill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600200"/>
            <a:ext cx="5486400" cy="36576"/>
          </a:xfrm>
          <a:prstGeom prst="rect">
            <a:avLst/>
          </a:prstGeom>
          <a:solidFill>
            <a:srgbClr val="6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solidFill>
            <a:srgbClr val="05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" cy="50292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CFF"/>
                </a:solidFill>
              </a:rPr>
              <a:t>Sécurisé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0195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B4"/>
                </a:solidFill>
              </a:rPr>
              <a:t>Vulnérabilité IDOR prouvée et non-régression assurée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05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54864" cy="50292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CFF"/>
                </a:solidFill>
              </a:rPr>
              <a:t>Robuste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54203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B4"/>
                </a:solidFill>
              </a:rPr>
              <a:t>Suite Selenium POM sans temps d'attente arbitraires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solidFill>
            <a:srgbClr val="05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54864" cy="50292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54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CFF"/>
                </a:solidFill>
              </a:rPr>
              <a:t>Maintenable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18211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B4"/>
                </a:solidFill>
              </a:rPr>
              <a:t>BasePage centralisée et captures d'écran automatiques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05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49040"/>
            <a:ext cx="54864" cy="50292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94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CFF"/>
                </a:solidFill>
              </a:rPr>
              <a:t>Complet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82219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B4"/>
                </a:solidFill>
              </a:rPr>
              <a:t>95% de réussite, pyramide couverte sur 3 niveaux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05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54864" cy="50292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34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CFF"/>
                </a:solidFill>
              </a:rPr>
              <a:t>Innovant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46227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B4"/>
                </a:solidFill>
              </a:rPr>
              <a:t>Bonus Robot Framework : Keyword-Driven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82B4"/>
                </a:solidFill>
              </a:rPr>
              <a:t>Merci de votre attention  — 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