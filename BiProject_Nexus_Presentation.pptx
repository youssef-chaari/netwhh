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1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E5FF"/>
                </a:solidFill>
                <a:latin typeface="Calibri"/>
              </a:rPr>
              <a:t>BiProject_Nexus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Architecture &amp; Intelligence d'Affaires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4572000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D0"/>
                </a:solidFill>
                <a:latin typeface="Calibri"/>
              </a:rPr>
              <a:t>Data Warehouse  ·  .NET Core API  ·  Angular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D0"/>
                </a:solidFill>
                <a:latin typeface="Calibri"/>
              </a:rPr>
              <a:t>Projet Intégré — Session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01 | 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Vue d'Ensemble du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201168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OLTP
Transactionnel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BiProject_Oltp_V3
SQL Server Code-First
Users · Produits
Commandes ·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566160" cy="201168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234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ETL
Intégration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SSIS (SQL Server IS)
Extract · Transform
Load avec Surrogate Keys
Métriques dérivées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566160" cy="201168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234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OLAP
Analytique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Data Warehouse
Star Schema
BI Analytics
Read-Only via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000F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000F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566160" cy="1371600"/>
          </a:xfrm>
          <a:prstGeom prst="rect">
            <a:avLst/>
          </a:prstGeom>
          <a:solidFill>
            <a:srgbClr val="1A2A52"/>
          </a:solidFill>
          <a:ln w="127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Angular 19 · Tailwind + Chart.js
SPA – JWT Auth – RBAC
Admin Dashboard · Shopping Cart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474720"/>
            <a:ext cx="3566160" cy="1371600"/>
          </a:xfrm>
          <a:prstGeom prst="rect">
            <a:avLst/>
          </a:prstGeom>
          <a:solidFill>
            <a:srgbClr val="1A2A52"/>
          </a:solidFill>
          <a:ln w="127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611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ASP.NET Core 8 Web API
Repository Pattern · EF Core
Dual DbContext · JWT Bearer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474720"/>
            <a:ext cx="3566160" cy="1371600"/>
          </a:xfrm>
          <a:prstGeom prst="rect">
            <a:avLst/>
          </a:prstGeom>
          <a:solidFill>
            <a:srgbClr val="1A2A52"/>
          </a:solidFill>
          <a:ln w="127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611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SQL Server (DW + OLTP)
Migrations Code-First
BCrypt · Claims 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02 | ETL — PROCESSUS SSIS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ETL : Extract → Transform →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520440" cy="3200400"/>
          </a:xfrm>
          <a:prstGeom prst="rect">
            <a:avLst/>
          </a:prstGeom>
          <a:solidFill>
            <a:srgbClr val="0A0F2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onsolas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Sources :
• Tables AdventureWorks
• Fichiers CSV / DB staging
• Clés métiers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143000"/>
            <a:ext cx="3520440" cy="3200400"/>
          </a:xfrm>
          <a:prstGeom prst="rect">
            <a:avLst/>
          </a:prstGeom>
          <a:solidFill>
            <a:srgbClr val="0A0F23"/>
          </a:solidFill>
          <a:ln w="254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400"/>
                </a:solidFill>
                <a:latin typeface="Consolas"/>
              </a:rP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Opérations SSIS :
• Merge Join
• Data Conversion
• Derived Column
• Nettoyage / Dédup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143000"/>
            <a:ext cx="3520440" cy="320040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00FF"/>
                </a:solidFill>
                <a:latin typeface="Consolas"/>
              </a:rPr>
              <a:t>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78308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Destination DW :
• Truncate &amp; Reload
• Surrogate Keys (IDENTITY)
• Bulk Insert optimisé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11430000" cy="1463040"/>
          </a:xfrm>
          <a:prstGeom prst="rect">
            <a:avLst/>
          </a:prstGeom>
          <a:solidFill>
            <a:srgbClr val="1A2A52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00"/>
                </a:solidFill>
                <a:latin typeface="Calibri"/>
              </a:rPr>
              <a:t>🔑  Champs Dérivés Clés Générés par SSIS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GrossAmount = UnitPrice × Qty    |    DiscountAmount = GrossAmount × UnitPriceDiscount
NetUnitPrice = UnitPrice × (1 − Discount)    |    TotalCost = StandardCost × Qty
GrossMargin = SalesAmount − TotalCost    |    MarginRate = GrossMargin / SalesAmount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03 | DATA WAREHOUSE — STAR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Modélisation Dimensionnelle (Schéma en Étoile)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2103120"/>
            <a:ext cx="4114800" cy="2560320"/>
          </a:xfrm>
          <a:prstGeom prst="rect">
            <a:avLst/>
          </a:prstGeom>
          <a:solidFill>
            <a:srgbClr val="0A1F3D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48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⚡ FactInternetSales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6517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SalesOrderNumber · SalesOrderLineNumber
OrderQuantity · SalesAmount · UnitPrice
GrossMargin · TotalCost · MarginRate
OnlineOrderFlag · LoadDate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338328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868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DimDate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280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onsolas"/>
              </a:rPr>
              <a:t>DateSK
Year · Month
Quarter · FiscalYear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338328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52043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DimCustomer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9319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onsolas"/>
              </a:rPr>
              <a:t>CustomerSK
FirstName · LastName
Gender · CommuteDistance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5577840"/>
            <a:ext cx="338328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562355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DimProduct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6035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onsolas"/>
              </a:rPr>
              <a:t>ProductSK
Name · Category
SubCategory · Color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822960"/>
            <a:ext cx="338328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7" y="868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DimGeography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1280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onsolas"/>
              </a:rPr>
              <a:t>GeographySK
City · Province
Country · PostalCode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474720"/>
            <a:ext cx="338328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352043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DimSalesTerritory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39319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onsolas"/>
              </a:rPr>
              <a:t>SalesTerritorySK
Region · Group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04 | FactInternetSales — TABLE DE FAITS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FactInternetSales : Colonnes &amp; Justifications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DateSK / CustomerSK / ProductSK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2344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Liaisons aux dimensions via Surrogate Keys (intégrité isolée)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527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05356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510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SalesOrderNumber + LineNumber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5107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Clé naturelle composite identifiant une ligne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6936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21991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6771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OrderQuantity · UnitPrice · SalesAmount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67711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Métriques de base — volume et montant brut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5999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38627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78434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UnitPriceDiscount · DiscountAmount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84347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Capture l'effet commercial des remises sur le CA 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02635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55263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0098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StandardCost · TotalCost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300983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Données coût du SSMS pour calculer la rentabilité réelle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319271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71900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176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GrossMargin = Sales − TotalCost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8176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Profit absolu par ligne de vente — indicateur clé de santé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8359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88536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334255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MarginRate = Margin / 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334255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Taux de marge, comparaison inter-produits / périodes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3525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05171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85089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OnlineOrderFlag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850891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Segmentation canal : E-Commerce vs Revendeur physique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69179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21807"/>
            <a:ext cx="4389120" cy="475488"/>
          </a:xfrm>
          <a:prstGeom prst="rect">
            <a:avLst/>
          </a:prstGeom>
          <a:solidFill>
            <a:srgbClr val="1A2A5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6752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onsolas"/>
              </a:rPr>
              <a:t>OrderDateValue / DueDateValue / ShipDate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367527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Analyse des délais de livraison et performance logistique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385815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05 | BACKEND .NET CORE 8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 Logicielle de la Web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1097280"/>
          </a:xfrm>
          <a:prstGeom prst="rect">
            <a:avLst/>
          </a:prstGeom>
          <a:solidFill>
            <a:srgbClr val="0A0F2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Consolas"/>
              </a:rPr>
              <a:t>Controllers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Reçoivent les requêtes HTTP, délèguent aux Services, retournent les DTOs en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40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D0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11612880" cy="1097280"/>
          </a:xfrm>
          <a:prstGeom prst="rect">
            <a:avLst/>
          </a:prstGeom>
          <a:solidFill>
            <a:srgbClr val="0A0F23"/>
          </a:solidFill>
          <a:ln w="254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400"/>
                </a:solidFill>
                <a:latin typeface="Consolas"/>
              </a:rPr>
              <a:t>Services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Logique métier pure. Mapping des Entités vers les DTOs. Validation et règles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520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D0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12880" cy="109728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00FF"/>
                </a:solidFill>
                <a:latin typeface="Consolas"/>
              </a:rPr>
              <a:t>Repository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Abstraction de l'accès aux données. Encapsule toutes les requêtes EF Core / LINQ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11612880" cy="1097280"/>
          </a:xfrm>
          <a:prstGeom prst="rect">
            <a:avLst/>
          </a:prstGeom>
          <a:solidFill>
            <a:srgbClr val="0A0F23"/>
          </a:solidFill>
          <a:ln w="25400">
            <a:solidFill>
              <a:srgbClr val="B0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B8D0"/>
                </a:solidFill>
                <a:latin typeface="Consolas"/>
              </a:rPr>
              <a:t>EF Core / DbContexts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21208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OltpDbContext (CRUD) + DwDbContext (Read-Only Analytics). Dual context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06 | REPOSITORY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Repository Pattern : Abstraction de l'Accès aux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2286000"/>
          </a:xfrm>
          <a:prstGeom prst="rect">
            <a:avLst/>
          </a:prstGeom>
          <a:solidFill>
            <a:srgbClr val="0A0F2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IOltpRepository&lt;T&gt;  (Générique)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onsolas"/>
              </a:rPr>
              <a:t>GetAllAsync()
GetByIdAsync(id)
AddAsync(entity)
Update(entity)
Delete(entity)
SaveChangesAsync()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228600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onsolas"/>
              </a:rPr>
              <a:t>IAnalyticsRepository  (Spécialisé)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onsolas"/>
              </a:rPr>
              <a:t>GetSalesByPeriodAsync()
GetSalesByProductAsync()
GetSalesByCustomerAsync()
GetSalesByChannelAsync()
GetKpisAsync()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11612880" cy="2468880"/>
          </a:xfrm>
          <a:prstGeom prst="rect">
            <a:avLst/>
          </a:prstGeom>
          <a:solidFill>
            <a:srgbClr val="1A2A52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400"/>
                </a:solidFill>
                <a:latin typeface="Calibri"/>
              </a:rPr>
              <a:t>✅  Bénéfices du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Testabilité : Les repositories peuvent être mockés unitairement.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00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Abstraction : Les Controllers ne connaissent pas EF 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840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Séparation : La logique SQL/LINQ reste isolée dans une seule couche.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681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Évolutivité : Remplacer l'ORM (ex: Dapper) ne nécessite que changer l'implémentation.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07 | DUAL DbCONTEXT — EF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Double Contexte Entity Framework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4846320"/>
          </a:xfrm>
          <a:prstGeom prst="rect">
            <a:avLst/>
          </a:prstGeom>
          <a:solidFill>
            <a:srgbClr val="0A0F2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FF"/>
                </a:solidFill>
                <a:latin typeface="Consolas"/>
              </a:rPr>
              <a:t>OltpDbContext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Base : BiProject_Oltp_V3
Approche : Code First + Migrations
DbSets :
  • Users · Roles
  • Clients
  • Products · ProductCategories
  • Orders · OrderItems
Accès : CRUD complet
Contraintes FK : Strictes
Sécurité : BCrypt + JWT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484632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00FF"/>
                </a:solidFill>
                <a:latin typeface="Consolas"/>
              </a:rPr>
              <a:t>DwDbContext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Base : AdventureWorksDW2025_ETL
Approche : Database First (Read-Only)
DbSets :
  • FactInternetSales
  • DimCustomer · DimProduct
  • DimDate · DimGeography
Accès : AsNoTracking() OBLIGATOIRE
Contraintes FK : Virtuelles (NoAction)
Pas de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0040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400"/>
                </a:solidFill>
                <a:latin typeface="Calibri"/>
              </a:rPr>
              <a:t>⚡ VS 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08 | SÉCURITÉ — JWT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Sécurité From Scratch : JWT + Rôles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1.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44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POST /api/auth/login → Username &amp; Password vérifiés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onsolas"/>
              </a:rPr>
              <a:t>2. BCrypt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128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PasswordHash validé : BCrypt.Verify(password, hash)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onsolas"/>
              </a:rPr>
              <a:t>3.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0815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Token généré avec Claims : Id, Username, Role,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4. Bearer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50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Frontend stocke le token et l'injecte via l'intercepteur HTTP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onsolas"/>
              </a:rPr>
              <a:t>5. Authorize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188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[Authorize] / [Authorize(Roles="Admin")] protège les routes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32120"/>
            <a:ext cx="11521440" cy="795528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6235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onsolas"/>
              </a:rPr>
              <a:t>6.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6875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Angular : authGuard + adminGuard empêchent l'accès frontal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09 | DASHBOARD ANALYTIQUE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Dashboard BI : Indicateurs Clés de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💰 Gross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55648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Somme totale du CA
(SalesAmount)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74320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📈 Absolute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755648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GrossMargin cumulée
= CA − Coûts totaux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274320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📊 Avg Margin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755648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Taux de marge moyen
en % par commande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188720"/>
            <a:ext cx="2743200" cy="173736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🛒 Avg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1755648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Panier moyen
par transaction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5577840" cy="292608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291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FF"/>
                </a:solidFill>
                <a:latin typeface="Consolas"/>
              </a:rPr>
              <a:t>📉 Combo Chart (Revenue vs Profit)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404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Barres = CA Mensuel (SalesAmount)
Ligne = Marge Brute Mensuelle (GrossMargin)
Source : GetSalesByPeriodAsync()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2926080"/>
          </a:xfrm>
          <a:prstGeom prst="rect">
            <a:avLst/>
          </a:prstGeom>
          <a:solidFill>
            <a:srgbClr val="0A0F23"/>
          </a:solidFill>
          <a:ln w="254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onsolas"/>
              </a:rPr>
              <a:t>🥧 Pie Chart — Canal de Vente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Répartition Online vs Revendeur
Basé sur OnlineOrderFlag SSIS
Source : GetSalesByChannelAsync()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10 | FRONTEND ANGULAR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 Utilisateur — Angular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5331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Cyberpunk Néon — Glassmorphism, polices monospace, animations CSS, couleurs neon cyan &amp; magenta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39112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Auth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0370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Login / Register pages publiques · JWT stocké · HTTP Interceptor injecte le Bearer Token automatiquement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89504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00"/>
                </a:solidFill>
                <a:latin typeface="Consolas"/>
              </a:rPr>
              <a:t>RBAC Front-End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5409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authGuard (utilisateur connecté) + adminGuard (accès Dashboard/Admin) → Redirection dynamique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39896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31335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04487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KPIs + Combo Chart + Pie Chart + Top Produits par profit — Ng2-Charts + Chart.js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90288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81727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00FF"/>
                </a:solidFill>
                <a:latin typeface="Consolas"/>
              </a:rPr>
              <a:t>User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54879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Grid de produits avec filtres, Panier (Cart), Checkout lié à l'ID utilisateur JWT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0679"/>
            <a:ext cx="11521440" cy="777240"/>
          </a:xfrm>
          <a:prstGeom prst="rect">
            <a:avLst/>
          </a:prstGeom>
          <a:solidFill>
            <a:srgbClr val="0A0F2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3211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00"/>
                </a:solidFill>
                <a:latin typeface="Consolas"/>
              </a:rPr>
              <a:t>Navigation Unique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605271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Un seul &lt;nav&gt; global (app.component) adaptatif au rôle. Élimination des barres dupliquées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E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onsola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Récapitulatif &amp; Valeur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4937760"/>
          </a:xfrm>
          <a:prstGeom prst="rect">
            <a:avLst/>
          </a:prstGeom>
          <a:solidFill>
            <a:srgbClr val="0A0F2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🏆  Ce qui a été 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Entrepôt de données SSIS complet (Star 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51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5 Dimensions + 1 Table de Faits enrichie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1576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Métriques financières dérivées (GrossMargin, etc.)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Web API .NET Core 8 with Repository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57015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Double DbContext (OLTP CRUD + DW Read-Only)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Authentification JWT From Scratch + BCrypt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9826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RBAC Admin / User with Route 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Angular 19 SPA — Dashboard KPIs &amp;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951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Shopping Cart &amp; Checkout lié au profil 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01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User = Client (sync automatique DB)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5486400" cy="4937760"/>
          </a:xfrm>
          <a:prstGeom prst="rect">
            <a:avLst/>
          </a:prstGeom>
          <a:solidFill>
            <a:srgbClr val="0A0F23"/>
          </a:solidFill>
          <a:ln w="25400">
            <a:solidFill>
              <a:srgbClr val="E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00FF"/>
                </a:solidFill>
                <a:latin typeface="Calibri"/>
              </a:rPr>
              <a:t>🔑  Choix Techniques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Star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Performance des requêtes analytiques GROUP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32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Surrogate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532887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Isolation du DW des changements sources (SCD)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912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AsNoTracking()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191255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DW strictement en lecture, zéro mutation accidentelle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4962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Repository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849623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Testabilité, découplage ORM/contrôleurs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079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Dual DbContext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507991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Séparation transactionnel vs analytique dans un seul projet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JWT From Scratch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516635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Contrôle total sur les Claims et les expirations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8247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Cyberpunk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824727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Interface mémorable, cohérente et attrayante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D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